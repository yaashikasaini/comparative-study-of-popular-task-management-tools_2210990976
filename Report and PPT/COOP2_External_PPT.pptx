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71" r:id="rId7"/>
    <p:sldId id="270" r:id="rId8"/>
    <p:sldId id="280" r:id="rId9"/>
    <p:sldId id="273" r:id="rId10"/>
    <p:sldId id="272" r:id="rId11"/>
    <p:sldId id="274" r:id="rId12"/>
    <p:sldId id="275" r:id="rId13"/>
    <p:sldId id="279" r:id="rId14"/>
    <p:sldId id="276" r:id="rId15"/>
    <p:sldId id="281" r:id="rId16"/>
    <p:sldId id="278" r:id="rId17"/>
    <p:sldId id="277" r:id="rId18"/>
    <p:sldId id="269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91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980141"/>
            <a:ext cx="9144000" cy="587785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/>
              <a:t>Comparative Study of Popular Task Management Tools</a:t>
            </a:r>
            <a:r>
              <a:rPr lang="en-IN" b="1" i="1" dirty="0"/>
              <a:t> 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Yashika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2210990976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dirty="0"/>
              <a:t>Dr. Gurpreet Singh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1570088"/>
            <a:ext cx="8838720" cy="397741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has transformed how people manage tasks and collaborate.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such as paper notes and spreadsheets are now less common.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task management tools: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updates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collaboration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accessible across multiple devices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choosing the right tool is challenging due to differences in features and complexity.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compares popular task management tools based on practical use in an academic setting.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38D0-E782-200F-4711-1215E81BD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01" y="0"/>
            <a:ext cx="548604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AD376C-669D-4EF3-3C8D-9B3F582209AD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724752" y="1896680"/>
            <a:ext cx="7694495" cy="263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numerous task management tools available, each offering different features and pricing models.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confusion when selecting the most suitable tool.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becomes difficult to identify: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efficient tool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value for money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tool suited for specific needs</a:t>
            </a:r>
          </a:p>
        </p:txBody>
      </p:sp>
    </p:spTree>
    <p:extLst>
      <p:ext uri="{BB962C8B-B14F-4D97-AF65-F5344CB8AC3E}">
        <p14:creationId xmlns:p14="http://schemas.microsoft.com/office/powerpoint/2010/main" val="371740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C91E6-6622-0403-496D-A4843BAD8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248" y="0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4D100-3977-F022-12A6-B83ADDF0C51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2075818"/>
            <a:ext cx="8229240" cy="2949129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effectiveness of task management tools in real-life use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how well these tools support planning, tracking, and collaboration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time efficiency for new users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teamwork features through task distribution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integration with other software and overall performance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performance of free vs. paid versions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96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F6886-203F-39B8-71DD-505735BBD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74118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19ECB-42FD-3A35-9C0F-1F6AA7171AE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14041"/>
            <a:ext cx="8229240" cy="570191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compares four popular task management tools: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Trello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Asana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ClickUp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To Do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tools were tested in a real academic environment by performing: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creation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tracking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completion 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was based on: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features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tool is suitable for different users.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73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30CD8-E9AF-0E53-0A3C-B16A7C454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381482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– Evaluation Criteria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224A8-0410-3933-858F-7A878FD008C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2156123"/>
            <a:ext cx="8229240" cy="254575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aspects were evaluated: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learning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management efficiency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support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Clarity and organization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236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6EB1-5A44-103C-DB38-1B9313BD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868" y="0"/>
            <a:ext cx="5486040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– Tool Selection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1CC26-0284-F043-BF6C-D5DA832D966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043189"/>
            <a:ext cx="8229240" cy="553791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were selected based 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among students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free versions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tools: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Trello and Microsoft To Do → Simple tools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Asana and ClickUp → Advanced tools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tools: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using web versions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free features used 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547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C95B-341E-DBF7-A325-DBED8BF0D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381482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– Testing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8D337-AAAF-B205-C4DB-F78E48E4F79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2154157"/>
            <a:ext cx="8229240" cy="29105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academic scenario was used for all tools.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included: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work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writing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PPT creation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submission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tool was used separately to manage tasks.</a:t>
            </a:r>
          </a:p>
        </p:txBody>
      </p:sp>
    </p:spTree>
    <p:extLst>
      <p:ext uri="{BB962C8B-B14F-4D97-AF65-F5344CB8AC3E}">
        <p14:creationId xmlns:p14="http://schemas.microsoft.com/office/powerpoint/2010/main" val="3277809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8AC4-7DB6-D31D-5BC4-EA53A788A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774287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&amp; Limitations in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D6D2C-7FFB-F99C-C95D-604BCFE021F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867485"/>
            <a:ext cx="8229240" cy="330813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testing ensured: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number of tasks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testing time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free features used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Single-user testing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duration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features not tested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04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1991-C2BA-03A6-533B-00ECCD894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98024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– Student Productivity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D07D6-0F56-55EB-ED42-F9ABBA3C3DE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852706"/>
            <a:ext cx="8229240" cy="356197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tested for: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assignments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work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tools → better for individuals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tools → better for teams</a:t>
            </a:r>
          </a:p>
        </p:txBody>
      </p:sp>
    </p:spTree>
    <p:extLst>
      <p:ext uri="{BB962C8B-B14F-4D97-AF65-F5344CB8AC3E}">
        <p14:creationId xmlns:p14="http://schemas.microsoft.com/office/powerpoint/2010/main" val="898271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438C1-357E-06AC-E93B-D7F6424FD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87544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DB95A0-D168-B5B9-9E3A-9D45531EC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68285"/>
              </p:ext>
            </p:extLst>
          </p:nvPr>
        </p:nvGraphicFramePr>
        <p:xfrm>
          <a:off x="79124" y="1378166"/>
          <a:ext cx="8879604" cy="42656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94180">
                  <a:extLst>
                    <a:ext uri="{9D8B030D-6E8A-4147-A177-3AD203B41FA5}">
                      <a16:colId xmlns:a16="http://schemas.microsoft.com/office/drawing/2014/main" val="1910403960"/>
                    </a:ext>
                  </a:extLst>
                </a:gridCol>
                <a:gridCol w="1769558">
                  <a:extLst>
                    <a:ext uri="{9D8B030D-6E8A-4147-A177-3AD203B41FA5}">
                      <a16:colId xmlns:a16="http://schemas.microsoft.com/office/drawing/2014/main" val="183965417"/>
                    </a:ext>
                  </a:extLst>
                </a:gridCol>
                <a:gridCol w="1769558">
                  <a:extLst>
                    <a:ext uri="{9D8B030D-6E8A-4147-A177-3AD203B41FA5}">
                      <a16:colId xmlns:a16="http://schemas.microsoft.com/office/drawing/2014/main" val="2143068947"/>
                    </a:ext>
                  </a:extLst>
                </a:gridCol>
                <a:gridCol w="1769558">
                  <a:extLst>
                    <a:ext uri="{9D8B030D-6E8A-4147-A177-3AD203B41FA5}">
                      <a16:colId xmlns:a16="http://schemas.microsoft.com/office/drawing/2014/main" val="1889504374"/>
                    </a:ext>
                  </a:extLst>
                </a:gridCol>
                <a:gridCol w="1876750">
                  <a:extLst>
                    <a:ext uri="{9D8B030D-6E8A-4147-A177-3AD203B41FA5}">
                      <a16:colId xmlns:a16="http://schemas.microsoft.com/office/drawing/2014/main" val="1097528277"/>
                    </a:ext>
                  </a:extLst>
                </a:gridCol>
              </a:tblGrid>
              <a:tr h="824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ClickUp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To 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452844"/>
                  </a:ext>
                </a:extLst>
              </a:tr>
              <a:tr h="43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simple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99110"/>
                  </a:ext>
                </a:extLst>
              </a:tr>
              <a:tr h="43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Kanban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Customizable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lists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273804"/>
                  </a:ext>
                </a:extLst>
              </a:tr>
              <a:tr h="43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Feature-rich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685307"/>
                  </a:ext>
                </a:extLst>
              </a:tr>
              <a:tr h="43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Collaboration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482192"/>
                  </a:ext>
                </a:extLst>
              </a:tr>
              <a:tr h="43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892531"/>
                  </a:ext>
                </a:extLst>
              </a:tr>
              <a:tr h="43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heavy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881762"/>
                  </a:ext>
                </a:extLst>
              </a:tr>
              <a:tr h="43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limited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21401"/>
                  </a:ext>
                </a:extLst>
              </a:tr>
              <a:tr h="430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 + 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 + 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 + 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98086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203D7B-24E8-B05D-5B40-449853FA3C4E}"/>
              </a:ext>
            </a:extLst>
          </p:cNvPr>
          <p:cNvSpPr txBox="1"/>
          <p:nvPr/>
        </p:nvSpPr>
        <p:spPr>
          <a:xfrm>
            <a:off x="79124" y="5796402"/>
            <a:ext cx="8879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Tools</a:t>
            </a:r>
          </a:p>
        </p:txBody>
      </p:sp>
    </p:spTree>
    <p:extLst>
      <p:ext uri="{BB962C8B-B14F-4D97-AF65-F5344CB8AC3E}">
        <p14:creationId xmlns:p14="http://schemas.microsoft.com/office/powerpoint/2010/main" val="3864646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9BDBE-0AC4-6BC8-7CC0-BB1B10AD3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586071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D62FCF-4FFC-A1BB-CDC3-99DB099521EB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15364" y="2368966"/>
            <a:ext cx="8214659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Steep learning curve in advanced tools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 notifications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integrations in some tools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stable internet </a:t>
            </a:r>
          </a:p>
        </p:txBody>
      </p:sp>
    </p:spTree>
    <p:extLst>
      <p:ext uri="{BB962C8B-B14F-4D97-AF65-F5344CB8AC3E}">
        <p14:creationId xmlns:p14="http://schemas.microsoft.com/office/powerpoint/2010/main" val="1038131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0BC14-C851-6312-98C7-68EF22A03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621929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00F68-F7D3-8EEC-2804-80D47B42B88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2354728"/>
            <a:ext cx="8229240" cy="1966035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more tools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with more users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usage analysis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professional testing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941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C2B4C-C3EC-E562-8769-A7ECD2E7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544235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67E63-9032-6370-7B22-AED68A14792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2085789"/>
            <a:ext cx="8229240" cy="324500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tool has unique strengths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tools are best for beginners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tools provide more features but need time to learn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Insight: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tool depends on user needs, team size, and experience level.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955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80D6-124C-C84F-91F1-A4B52B124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FB7A58D-0658-ADF3-0CAE-937F1D822D12}"/>
              </a:ext>
            </a:extLst>
          </p:cNvPr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6C91052-4B6C-257E-74D2-1891A320089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0600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35112</TotalTime>
  <Words>583</Words>
  <Application>Microsoft Office PowerPoint</Application>
  <PresentationFormat>On-screen Show (4:3)</PresentationFormat>
  <Paragraphs>164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Objective</vt:lpstr>
      <vt:lpstr>Abstract </vt:lpstr>
      <vt:lpstr>Methodology – Evaluation Criteria</vt:lpstr>
      <vt:lpstr>Methodology – Tool Selection</vt:lpstr>
      <vt:lpstr>Methodology – Testing Method</vt:lpstr>
      <vt:lpstr>Fairness &amp; Limitations in Testing</vt:lpstr>
      <vt:lpstr>Case Study – Student Productivity</vt:lpstr>
      <vt:lpstr>Results </vt:lpstr>
      <vt:lpstr>Challenges</vt:lpstr>
      <vt:lpstr>Future Scope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Yashika Saini</cp:lastModifiedBy>
  <cp:revision>2329</cp:revision>
  <dcterms:created xsi:type="dcterms:W3CDTF">2010-04-09T07:36:15Z</dcterms:created>
  <dcterms:modified xsi:type="dcterms:W3CDTF">2026-05-17T19:44:02Z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